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548df502a54959" /><Relationship Type="http://schemas.openxmlformats.org/officeDocument/2006/relationships/extended-properties" Target="/docProps/app.xml" Id="R0b315c5354164bcc" /><Relationship Type="http://schemas.openxmlformats.org/officeDocument/2006/relationships/officeDocument" Target="/ppt/presentation.xml" Id="Rc64f270367ad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fca65814b642bf"/>
  </p:sldMasterIdLst>
  <p:notesMasterIdLst>
    <p:notesMasterId xmlns:r="http://schemas.openxmlformats.org/officeDocument/2006/relationships" r:id="R6a521f9e83f242f5"/>
  </p:notesMasterIdLst>
  <p:sldIdLst>
    <p:sldId xmlns:r="http://schemas.openxmlformats.org/officeDocument/2006/relationships" id="256" r:id="R32785c99c0774bdb"/>
    <p:sldId xmlns:r="http://schemas.openxmlformats.org/officeDocument/2006/relationships" id="257" r:id="R2991a33ef677414f"/>
    <p:sldId xmlns:r="http://schemas.openxmlformats.org/officeDocument/2006/relationships" id="258" r:id="Rbc0901f48d2c40b1"/>
    <p:sldId xmlns:r="http://schemas.openxmlformats.org/officeDocument/2006/relationships" id="259" r:id="Ra8186af5237c4885"/>
    <p:sldId xmlns:r="http://schemas.openxmlformats.org/officeDocument/2006/relationships" id="260" r:id="R359b60a5b1614410"/>
    <p:sldId xmlns:r="http://schemas.openxmlformats.org/officeDocument/2006/relationships" id="261" r:id="R2870183c59464fde"/>
    <p:sldId xmlns:r="http://schemas.openxmlformats.org/officeDocument/2006/relationships" id="262" r:id="Rc494f716fa6f42aa"/>
    <p:sldId xmlns:r="http://schemas.openxmlformats.org/officeDocument/2006/relationships" id="263" r:id="Raa0e4f4031084e06"/>
    <p:sldId xmlns:r="http://schemas.openxmlformats.org/officeDocument/2006/relationships" id="264" r:id="Rd37c63432a4544ec"/>
    <p:sldId xmlns:r="http://schemas.openxmlformats.org/officeDocument/2006/relationships" id="265" r:id="Rde628d6111cb46d3"/>
    <p:sldId xmlns:r="http://schemas.openxmlformats.org/officeDocument/2006/relationships" id="266" r:id="Rb4d7f71fb0c24f4d"/>
    <p:sldId xmlns:r="http://schemas.openxmlformats.org/officeDocument/2006/relationships" id="267" r:id="Rb4d81a9fb73d4375"/>
    <p:sldId xmlns:r="http://schemas.openxmlformats.org/officeDocument/2006/relationships" id="268" r:id="Rbf85235825cb4204"/>
    <p:sldId xmlns:r="http://schemas.openxmlformats.org/officeDocument/2006/relationships" id="269" r:id="Rdfbbf848c09e4665"/>
    <p:sldId xmlns:r="http://schemas.openxmlformats.org/officeDocument/2006/relationships" id="270" r:id="R0782c6dee3184904"/>
    <p:sldId xmlns:r="http://schemas.openxmlformats.org/officeDocument/2006/relationships" id="271" r:id="R29cf89bb8fec4df1"/>
    <p:sldId xmlns:r="http://schemas.openxmlformats.org/officeDocument/2006/relationships" id="272" r:id="Recc5aee683e147a6"/>
    <p:sldId xmlns:r="http://schemas.openxmlformats.org/officeDocument/2006/relationships" id="273" r:id="Red069326b30d438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4d4d8b96d844e3" /><Relationship Type="http://schemas.openxmlformats.org/officeDocument/2006/relationships/slideMaster" Target="/ppt/slideMasters/slideMaster1.xml" Id="R97fca65814b642bf" /><Relationship Type="http://schemas.openxmlformats.org/officeDocument/2006/relationships/notesMaster" Target="/ppt/notesMasters/notesMaster1.xml" Id="R6a521f9e83f242f5" /><Relationship Type="http://schemas.openxmlformats.org/officeDocument/2006/relationships/presProps" Target="/ppt/presProps.xml" Id="R260128d784bd4af8" /><Relationship Type="http://schemas.openxmlformats.org/officeDocument/2006/relationships/tableStyles" Target="/ppt/tableStyles.xml" Id="R334a701edcfd4349" /><Relationship Type="http://schemas.openxmlformats.org/officeDocument/2006/relationships/slide" Target="/ppt/slides/slide1.xml" Id="R32785c99c0774bdb" /><Relationship Type="http://schemas.openxmlformats.org/officeDocument/2006/relationships/slide" Target="/ppt/slides/slide2.xml" Id="R2991a33ef677414f" /><Relationship Type="http://schemas.openxmlformats.org/officeDocument/2006/relationships/slide" Target="/ppt/slides/slide3.xml" Id="Rbc0901f48d2c40b1" /><Relationship Type="http://schemas.openxmlformats.org/officeDocument/2006/relationships/slide" Target="/ppt/slides/slide4.xml" Id="Ra8186af5237c4885" /><Relationship Type="http://schemas.openxmlformats.org/officeDocument/2006/relationships/slide" Target="/ppt/slides/slide5.xml" Id="R359b60a5b1614410" /><Relationship Type="http://schemas.openxmlformats.org/officeDocument/2006/relationships/slide" Target="/ppt/slides/slide6.xml" Id="R2870183c59464fde" /><Relationship Type="http://schemas.openxmlformats.org/officeDocument/2006/relationships/slide" Target="/ppt/slides/slide7.xml" Id="Rc494f716fa6f42aa" /><Relationship Type="http://schemas.openxmlformats.org/officeDocument/2006/relationships/slide" Target="/ppt/slides/slide8.xml" Id="Raa0e4f4031084e06" /><Relationship Type="http://schemas.openxmlformats.org/officeDocument/2006/relationships/slide" Target="/ppt/slides/slide9.xml" Id="Rd37c63432a4544ec" /><Relationship Type="http://schemas.openxmlformats.org/officeDocument/2006/relationships/slide" Target="/ppt/slides/slide10.xml" Id="Rde628d6111cb46d3" /><Relationship Type="http://schemas.openxmlformats.org/officeDocument/2006/relationships/slide" Target="/ppt/slides/slide11.xml" Id="Rb4d7f71fb0c24f4d" /><Relationship Type="http://schemas.openxmlformats.org/officeDocument/2006/relationships/slide" Target="/ppt/slides/slide12.xml" Id="Rb4d81a9fb73d4375" /><Relationship Type="http://schemas.openxmlformats.org/officeDocument/2006/relationships/slide" Target="/ppt/slides/slide13.xml" Id="Rbf85235825cb4204" /><Relationship Type="http://schemas.openxmlformats.org/officeDocument/2006/relationships/slide" Target="/ppt/slides/slide14.xml" Id="Rdfbbf848c09e4665" /><Relationship Type="http://schemas.openxmlformats.org/officeDocument/2006/relationships/slide" Target="/ppt/slides/slide15.xml" Id="R0782c6dee3184904" /><Relationship Type="http://schemas.openxmlformats.org/officeDocument/2006/relationships/slide" Target="/ppt/slides/slide16.xml" Id="R29cf89bb8fec4df1" /><Relationship Type="http://schemas.openxmlformats.org/officeDocument/2006/relationships/slide" Target="/ppt/slides/slide17.xml" Id="Recc5aee683e147a6" /><Relationship Type="http://schemas.openxmlformats.org/officeDocument/2006/relationships/slide" Target="/ppt/slides/slide18.xml" Id="Red069326b30d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cc51da0e7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4ff8601934761" /><Relationship Type="http://schemas.openxmlformats.org/officeDocument/2006/relationships/notesMaster" Target="/ppt/notesMasters/notesMaster1.xml" Id="R125b17c9058947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f1d7228dfd44ae" /><Relationship Type="http://schemas.openxmlformats.org/officeDocument/2006/relationships/notesMaster" Target="/ppt/notesMasters/notesMaster1.xml" Id="R0094492d6af3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e7d9053784c59" /><Relationship Type="http://schemas.openxmlformats.org/officeDocument/2006/relationships/notesMaster" Target="/ppt/notesMasters/notesMaster1.xml" Id="R209fe12c5e554a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e32e4a0d70486f" /><Relationship Type="http://schemas.openxmlformats.org/officeDocument/2006/relationships/notesMaster" Target="/ppt/notesMasters/notesMaster1.xml" Id="Rfdc021f4a07e4a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60ba1e503140f2" /><Relationship Type="http://schemas.openxmlformats.org/officeDocument/2006/relationships/notesMaster" Target="/ppt/notesMasters/notesMaster1.xml" Id="Rdcaa5526f55e41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ff8539a795484a" /><Relationship Type="http://schemas.openxmlformats.org/officeDocument/2006/relationships/notesMaster" Target="/ppt/notesMasters/notesMaster1.xml" Id="R931574d324134e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ab606f7be7438e" /><Relationship Type="http://schemas.openxmlformats.org/officeDocument/2006/relationships/notesMaster" Target="/ppt/notesMasters/notesMaster1.xml" Id="Rdfb7eb1f38b846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0dad1ddeb34c1d" /><Relationship Type="http://schemas.openxmlformats.org/officeDocument/2006/relationships/notesMaster" Target="/ppt/notesMasters/notesMaster1.xml" Id="Rd0f5c07d40a44a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0a231274b4f37" /><Relationship Type="http://schemas.openxmlformats.org/officeDocument/2006/relationships/notesMaster" Target="/ppt/notesMasters/notesMaster1.xml" Id="Rf2311a33d7784e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7461f506f54616" /><Relationship Type="http://schemas.openxmlformats.org/officeDocument/2006/relationships/notesMaster" Target="/ppt/notesMasters/notesMaster1.xml" Id="R9c41b656c27c4d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29ca8e2d6348e2" /><Relationship Type="http://schemas.openxmlformats.org/officeDocument/2006/relationships/notesMaster" Target="/ppt/notesMasters/notesMaster1.xml" Id="R2f567271a8ab46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df7f28e2384994" /><Relationship Type="http://schemas.openxmlformats.org/officeDocument/2006/relationships/notesMaster" Target="/ppt/notesMasters/notesMaster1.xml" Id="R78e43bd2f03047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138d229d1f4ab0" /><Relationship Type="http://schemas.openxmlformats.org/officeDocument/2006/relationships/notesMaster" Target="/ppt/notesMasters/notesMaster1.xml" Id="Rce50e7e2e5e24d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6b3ddb986d4e8c" /><Relationship Type="http://schemas.openxmlformats.org/officeDocument/2006/relationships/notesMaster" Target="/ppt/notesMasters/notesMaster1.xml" Id="R5fc8d1c167c649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fce7448d474d55" /><Relationship Type="http://schemas.openxmlformats.org/officeDocument/2006/relationships/notesMaster" Target="/ppt/notesMasters/notesMaster1.xml" Id="R87fdf3427bb048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65edc459dd4922" /><Relationship Type="http://schemas.openxmlformats.org/officeDocument/2006/relationships/notesMaster" Target="/ppt/notesMasters/notesMaster1.xml" Id="Rec85def908ca48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30c70772324a50" /><Relationship Type="http://schemas.openxmlformats.org/officeDocument/2006/relationships/notesMaster" Target="/ppt/notesMasters/notesMaster1.xml" Id="Rf79be2f6071645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410b1ee6974c18" /><Relationship Type="http://schemas.openxmlformats.org/officeDocument/2006/relationships/notesMaster" Target="/ppt/notesMasters/notesMaster1.xml" Id="R2d6c32e4c1bd43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服务销售部门培训</a:t>
            </a:r>
          </a:p>
          <a:p xmlns:a="http://schemas.openxmlformats.org/drawingml/2006/main">
            <a:r>
              <a:t>建议时长：1分钟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开场，1分钟】本课前15分钟介绍Copilot功能与使用方法，后15分钟由讲师演示完整拜访案例并总结交流。案例依次展示电脑准备、手机复习和会后跟进。课程分为三个章节：功能与使用方法、客户拜访示范、总结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第01章</a:t>
            </a:r>
          </a:p>
          <a:p xmlns:a="http://schemas.openxmlformats.org/drawingml/2006/main">
            <a:r>
              <a:t>建议时长：0.25分钟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章节转场，15秒。先理解能做什么，再学会把工作交代清楚。 本章内容：任务与提示词　·　文件与办公应用　·　电脑与手机 本章目标：能选择入口，提出一条完整的工作任务。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01 认识 Copilot</a:t>
            </a:r>
          </a:p>
          <a:p xmlns:a="http://schemas.openxmlformats.org/drawingml/2006/main">
            <a:r>
              <a:t>建议时长：1.75分钟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【承接】刚才大家提到的耗时工作，都可以从一份已有资料开始。</a:t>
            </a:r>
          </a:p>
          <a:p xmlns:a="http://schemas.openxmlformats.org/drawingml/2006/main">
            <a:r>
              <a:t>【讲解】读、理、查、写是四种相互连接的能力：先读内容，再整理重点，查找支持信息，最后写成成果。右侧三句话用的是同一份服务记录，但目的不同，所以结果也不同。不要把操作理解为只问一次问题。</a:t>
            </a:r>
          </a:p>
          <a:p xmlns:a="http://schemas.openxmlformats.org/drawingml/2006/main">
            <a:r>
              <a:t>【互动】请一位同事选右侧最常用的一种成果，说出自己通常需要哪些栏目。</a:t>
            </a:r>
          </a:p>
          <a:p xmlns:a="http://schemas.openxmlformats.org/drawingml/2006/main">
            <a:r>
              <a:t>【转场】明确想要的成果后，我们先到电脑界面找到开始的位置。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01 认识 Copilot</a:t>
            </a:r>
          </a:p>
          <a:p xmlns:a="http://schemas.openxmlformats.org/drawingml/2006/main">
            <a:r>
              <a:t>建议时长：2分钟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【演示】先展示工作账号登录后的界面，依次指向左侧新建对话、底部输入框、加号和左侧历史列表。</a:t>
            </a:r>
          </a:p>
          <a:p xmlns:a="http://schemas.openxmlformats.org/drawingml/2006/main">
            <a:r>
              <a:t>【讲解】新对话相当于为一个任务开一个工作区。文件与追问留在同一段对话中，便于持续调整结果。请口头演示两句追问：“把上面的内容改成三列表格”“把第二项展开成具体行动”。</a:t>
            </a:r>
          </a:p>
          <a:p xmlns:a="http://schemas.openxmlformats.org/drawingml/2006/main">
            <a:r>
              <a:t>【讲师示范】用光标依次指示输入框与加号，说明点击后的操作。</a:t>
            </a:r>
          </a:p>
          <a:p xmlns:a="http://schemas.openxmlformats.org/drawingml/2006/main">
            <a:r>
              <a:t>【转场】按钮找到以后，结果好不好用，主要取决于任务怎样交代。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图像来源：desktop-home.png；用户附件或本地课程归档，见素材取舍说明。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02 提问与资料处理</a:t>
            </a:r>
          </a:p>
          <a:p xmlns:a="http://schemas.openxmlformats.org/drawingml/2006/main">
            <a:r>
              <a:t>建议时长：2分钟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【讲解】左侧解释四要素的作用，右侧把它们组成完整任务。按顺序朗读右侧三段，强调它是一段自然语言任务。目标是准备提纲，背景是服务销售即将拜访，来源是本季度服务记录，输出是三列表格。</a:t>
            </a:r>
          </a:p>
          <a:p xmlns:a="http://schemas.openxmlformats.org/drawingml/2006/main">
            <a:r>
              <a:t>【对比】如果只说“总结一下”，结果可能更像文章摘要。加上使用目的，内容就会围绕下一次客户交流组织。</a:t>
            </a:r>
          </a:p>
          <a:p xmlns:a="http://schemas.openxmlformats.org/drawingml/2006/main">
            <a:r>
              <a:t>【互动】问大家：如果这份结果改为给经理看，要改哪个部分？预期回答是对象、重点和输出结构。</a:t>
            </a:r>
          </a:p>
          <a:p xmlns:a="http://schemas.openxmlformats.org/drawingml/2006/main">
            <a:r>
              <a:t>【转场】接下来用文件分析说明资料怎样变成成果。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02 提问与资料处理</a:t>
            </a:r>
          </a:p>
          <a:p xmlns:a="http://schemas.openxmlformats.org/drawingml/2006/main">
            <a:r>
              <a:t>建议时长：2分钟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【讲解】用绿色办公周示范说明这套方法。三份资料分别提供项目背景、会议内容和时间安排。先了解各自作用，再比较同一事项在不同资料中的描述，最后形成一页简报。</a:t>
            </a:r>
          </a:p>
          <a:p xmlns:a="http://schemas.openxmlformats.org/drawingml/2006/main">
            <a:r>
              <a:t>【演示】打开课件材料包中的三份示范资料，展示文件名即可。口头连贯读出右侧三轮任务，让学员听出问题越来越具体。</a:t>
            </a:r>
          </a:p>
          <a:p xmlns:a="http://schemas.openxmlformats.org/drawingml/2006/main">
            <a:r>
              <a:t>【迁移】服务记录、产品手册、合同摘要也可以按这个流程处理。资料换了，但从阅读到业务输出的逻辑相同。</a:t>
            </a:r>
          </a:p>
          <a:p xmlns:a="http://schemas.openxmlformats.org/drawingml/2006/main">
            <a:r>
              <a:t>【转场】当任务主要发生在邮件、会议或文档里，就可以使用对应应用中的Copilot。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03 按场景选择功能</a:t>
            </a:r>
          </a:p>
          <a:p xmlns:a="http://schemas.openxmlformats.org/drawingml/2006/main">
            <a:r>
              <a:t>建议时长：2分钟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【讲解】这一页用工作任务解释应用选择。邮件与会议在Outlook和Teams中处理；长文和汇报使用Word或PowerPoint；数据分析使用Excel；跨资料准备任务使用Chat。</a:t>
            </a:r>
          </a:p>
          <a:p xmlns:a="http://schemas.openxmlformats.org/drawingml/2006/main">
            <a:r>
              <a:t>【举例】客户发来一串问题时，可以在邮件里总结并起草回复；准备内部业务汇报时，可以先分析表格，再组织演示结构。选工具的依据是当前内容与希望得到的成果。</a:t>
            </a:r>
          </a:p>
          <a:p xmlns:a="http://schemas.openxmlformats.org/drawingml/2006/main">
            <a:r>
              <a:t>【演示准备】应用内功能使用配置了相应Microsoft 365 Copilot许可的工作账号。</a:t>
            </a:r>
          </a:p>
          <a:p xmlns:a="http://schemas.openxmlformats.org/drawingml/2006/main">
            <a:r>
              <a:t>【转场】对于每周都会重复的工作，还可以把资料与方法保存下来。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03 按场景选择功能</a:t>
            </a:r>
          </a:p>
          <a:p xmlns:a="http://schemas.openxmlformats.org/drawingml/2006/main">
            <a:r>
              <a:t>建议时长：2分钟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【讲解】用一个长期服务项目帮助理解三个功能。项目有多份参考资料，可以放进笔记本持续问答；每次会议后都要写三类内容，可以使用会议跟进智能体；已经生成的页面或图片，从库里找回并复用。</a:t>
            </a:r>
          </a:p>
          <a:p xmlns:a="http://schemas.openxmlformats.org/drawingml/2006/main">
            <a:r>
              <a:t>【操作入口】电脑侧边栏可找到Notebooks和Agents，手机截图中展示了库和笔记本入口。</a:t>
            </a:r>
          </a:p>
          <a:p xmlns:a="http://schemas.openxmlformats.org/drawingml/2006/main">
            <a:r>
              <a:t>【学习延伸】材料中的AI Tool Lab提供笔记本、内容库、产品问答、会议跟进及漏斗分析的分步课程。基础操作可从AI Skills Navigator与Microsoft Learn继续学习，附录保留网址。</a:t>
            </a:r>
          </a:p>
          <a:p xmlns:a="http://schemas.openxmlformats.org/drawingml/2006/main">
            <a:r>
              <a:t>【转场】电脑适合集中处理资料，手机可以把准备结果带到现场。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功能与方法  /  03 按场景选择功能</a:t>
            </a:r>
          </a:p>
          <a:p xmlns:a="http://schemas.openxmlformats.org/drawingml/2006/main">
            <a:r>
              <a:t>建议时长：2分钟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【演示】指向截图左上菜单、底部输入框和右下新建按钮。登录步骤按手机提示完成，遇到Authenticator跳转时完成验证后返回。</a:t>
            </a:r>
          </a:p>
          <a:p xmlns:a="http://schemas.openxmlformats.org/drawingml/2006/main">
            <a:r>
              <a:t>【讲解】手机最方便的用法是接续已经整理的内容，例如把简报压缩为一分钟清单、临时追问一个问题、会后输入简短记录。找到原对话后，可以直接对已有内容提出新的格式要求；也可以粘贴简报文本继续处理。</a:t>
            </a:r>
          </a:p>
          <a:p xmlns:a="http://schemas.openxmlformats.org/drawingml/2006/main">
            <a:r>
              <a:t>【互动】请大家想象到达医院前只有一分钟，会希望屏幕上看到什么？通常是背景、话题和问题。</a:t>
            </a:r>
          </a:p>
          <a:p xmlns:a="http://schemas.openxmlformats.org/drawingml/2006/main">
            <a:r>
              <a:t>【转场】上半场到此15分钟。接下来用一个完整拜访案例，把这些方法连起来。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图像来源：mobile-home.jpg；用户附件或本地课程归档，见素材取舍说明。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第02章</a:t>
            </a:r>
          </a:p>
          <a:p xmlns:a="http://schemas.openxmlformats.org/drawingml/2006/main">
            <a:r>
              <a:t>建议时长：0.25分钟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章节转场，15秒。讲师演示电脑端准备简报、手机端复习与会后行动及邮件。重点观察每轮追问的目的和结果变化。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案例示范  /  04 电脑端拜访准备</a:t>
            </a:r>
          </a:p>
          <a:p xmlns:a="http://schemas.openxmlformats.org/drawingml/2006/main">
            <a:r>
              <a:t>建议时长：2.5分钟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【背景】这是一次模拟拜访案例。把自己代入首次接触这家医院的服务销售。</a:t>
            </a:r>
          </a:p>
          <a:p xmlns:a="http://schemas.openxmlformats.org/drawingml/2006/main">
            <a:r>
              <a:t>【演示】打开“复制提示词”，展示背景、任务、输出要求如何组合，复制到新对话。截图已展示第一轮回答，现场可直接用截图讲解节奏。</a:t>
            </a:r>
          </a:p>
          <a:p xmlns:a="http://schemas.openxmlformats.org/drawingml/2006/main">
            <a:r>
              <a:t>【讲解】指向简报标题和医院概况，说明第一轮先收集与组织公开信息。讲解重点是内容结构，而不是逐项朗读医院数字。</a:t>
            </a:r>
          </a:p>
          <a:p xmlns:a="http://schemas.openxmlformats.org/drawingml/2006/main">
            <a:r>
              <a:t>【互动】请大家指出还希望了解哪类信息，例如近期发展方向或重点科室。</a:t>
            </a:r>
          </a:p>
          <a:p xmlns:a="http://schemas.openxmlformats.org/drawingml/2006/main">
            <a:r>
              <a:t>【转场】背景资料有了，还要区分哪些是公开信息、哪些是适合与客户进一步交流的方向。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完整提示词</a:t>
            </a:r>
          </a:p>
          <a:p xmlns:a="http://schemas.openxmlformats.org/drawingml/2006/main">
            <a:r>
              <a:t>背景：我是医疗设备服务销售，准备首次拜访上海市第六人民医院。</a:t>
            </a:r>
          </a:p>
          <a:p xmlns:a="http://schemas.openxmlformats.org/drawingml/2006/main">
            <a:r>
              <a:t>任务：查阅医院官网、政府网站等公开资料，整理医院概况、近两年公开动态，以及值得交流的服务话题。</a:t>
            </a:r>
          </a:p>
          <a:p xmlns:a="http://schemas.openxmlformats.org/drawingml/2006/main">
            <a:r>
              <a:t>输出：一页拜访简报，包含医院概况、近期动态、三个服务话题、五个拜访问题、交流确认事项和主要来源。</a:t>
            </a:r>
          </a:p>
          <a:p xmlns:a="http://schemas.openxmlformats.org/drawingml/2006/main">
            <a:r>
              <a:t>要求：重要信息附来源链接和发布日期；分别列出公开信息、服务讨论方向与客户交流事项。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图像来源：case-1.png；用户附件或本地课程归档，见素材取舍说明。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案例示范  /  04 电脑端拜访准备</a:t>
            </a:r>
          </a:p>
          <a:p xmlns:a="http://schemas.openxmlformats.org/drawingml/2006/main">
            <a:r>
              <a:t>建议时长：2.5分钟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【承接】第一轮给了我们很多内容。第二轮的目的是把它们安排到合适的位置。</a:t>
            </a:r>
          </a:p>
          <a:p xmlns:a="http://schemas.openxmlformats.org/drawingml/2006/main">
            <a:r>
              <a:t>【演示】复制分类提示词，请求公开信息、服务讨论方向和客户交流事项三栏。指向截图里的来源与日期，演示打开一条原文链接。</a:t>
            </a:r>
          </a:p>
          <a:p xmlns:a="http://schemas.openxmlformats.org/drawingml/2006/main">
            <a:r>
              <a:t>【讲解】例如公开资料提到多个院区，我们就有理由进一步了解院区之间如何协调设备管理。公开信息帮助我们找到话题，客户交流帮助我们理解具体情况。</a:t>
            </a:r>
          </a:p>
          <a:p xmlns:a="http://schemas.openxmlformats.org/drawingml/2006/main">
            <a:r>
              <a:t>【讲师示范】从多院区这一背景提炼出设备管理协同话题，解释信息如何转为问题。</a:t>
            </a:r>
          </a:p>
          <a:p xmlns:a="http://schemas.openxmlformats.org/drawingml/2006/main">
            <a:r>
              <a:t>【转场】接下来把这些话题写成自然的问题，并汇总到一页简报。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完整提示词</a:t>
            </a:r>
          </a:p>
          <a:p xmlns:a="http://schemas.openxmlformats.org/drawingml/2006/main">
            <a:r>
              <a:t>请把刚才的内容整理成三栏：公开信息、服务讨论方向、客户交流事项。每条公开信息附来源链接与发布日期。不同日期或口径分别列出，便于回到原文逐项核对。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图像来源：case-2.png；用户附件或本地课程归档，见素材取舍说明。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案例示范  /  04 电脑端拜访准备</a:t>
            </a:r>
          </a:p>
          <a:p xmlns:a="http://schemas.openxmlformats.org/drawingml/2006/main">
            <a:r>
              <a:t>建议时长：2.5分钟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【承接】上一轮把资料变成交流方向，现在继续向真正的拜访推进。</a:t>
            </a:r>
          </a:p>
          <a:p xmlns:a="http://schemas.openxmlformats.org/drawingml/2006/main">
            <a:r>
              <a:t>【讲解】先朗读左侧开放式问题，让学员感受它适合面对面交流。再说明一页简报的阅读顺序：先看客户背景，再看这次要谈什么。右侧是成果结构，而不是让学员重新写一份资料报告。</a:t>
            </a:r>
          </a:p>
          <a:p xmlns:a="http://schemas.openxmlformats.org/drawingml/2006/main">
            <a:r>
              <a:t>【演示】先用讲师手册中的开放式问题提示词，再用本页一页简报提示词继续对话。说明两次任务都使用前面已有的内容。</a:t>
            </a:r>
          </a:p>
          <a:p xmlns:a="http://schemas.openxmlformats.org/drawingml/2006/main">
            <a:r>
              <a:t>【讲师示范】对比概括式问题与自然的开放式问法，说明怎样方便客户展开介绍。</a:t>
            </a:r>
          </a:p>
          <a:p xmlns:a="http://schemas.openxmlformats.org/drawingml/2006/main">
            <a:r>
              <a:t>【转场】电脑端已经完成准备，接下来让同一份内容在手机上更好读。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完整提示词</a:t>
            </a:r>
          </a:p>
          <a:p xmlns:a="http://schemas.openxmlformats.org/drawingml/2006/main">
            <a:r>
              <a:t>请整理为500字以内的一页拜访简报。结构：医院概况、近期公开动态、三个服务讨论方向、五个拜访问题、客户交流事项、主要来源。使用短句和分点，方便现场快速浏览。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案例示范  /  05 手机复习与会后跟进</a:t>
            </a:r>
          </a:p>
          <a:p xmlns:a="http://schemas.openxmlformats.org/drawingml/2006/main">
            <a:r>
              <a:t>建议时长：2.5分钟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【演示】先展示手机历史对话，再展示复习清单。讲解清单从背景信息进入服务话题的顺序。</a:t>
            </a:r>
          </a:p>
          <a:p xmlns:a="http://schemas.openxmlformats.org/drawingml/2006/main">
            <a:r>
              <a:t>【讲解】手机场景改变的是阅读时间与屏幕大小，因此要求一句话一个要点。完整简报仍然保存在对话中，简短清单帮助我们快速想起关键问题。</a:t>
            </a:r>
          </a:p>
          <a:p xmlns:a="http://schemas.openxmlformats.org/drawingml/2006/main">
            <a:r>
              <a:t>【讲师示范】选一个话题，展示怎样追问得更具体，例如“请为设备维护培训再补两个交流问题”。</a:t>
            </a:r>
          </a:p>
          <a:p xmlns:a="http://schemas.openxmlformats.org/drawingml/2006/main">
            <a:r>
              <a:t>【转场】拜访结束后，新的客户信息进入记录，我们可以继续把记录变成行动与邮件。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完整提示词</a:t>
            </a:r>
          </a:p>
          <a:p xmlns:a="http://schemas.openxmlformats.org/drawingml/2006/main">
            <a:r>
              <a:t>请把这份拜访简报压缩成一分钟复习清单：三条医院基本信息、三个服务话题、五个拜访问题、三项客户交流事项。每项使用一句短句，保留来源与信息分类。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图像来源：mobile-brief.jpg；用户附件或本地课程归档，见素材取舍说明。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案例示范  /  05 手机复习与会后跟进</a:t>
            </a:r>
          </a:p>
          <a:p xmlns:a="http://schemas.openxmlformats.org/drawingml/2006/main">
            <a:r>
              <a:t>建议时长：2.25分钟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【讲解】本页方法来自AI Tool Lab会议跟进课程。先朗读案例记录，再分别看右侧行动清单和邮件。行动清单方便执行，邮件方便继续推进沟通。</a:t>
            </a:r>
          </a:p>
          <a:p xmlns:a="http://schemas.openxmlformats.org/drawingml/2006/main">
            <a:r>
              <a:t>【演示】使用本页提示词一次请求两类输出，再追问“把邮件压缩到100字以内”。请学员观察信息基本相同，组织方式不同。</a:t>
            </a:r>
          </a:p>
          <a:p xmlns:a="http://schemas.openxmlformats.org/drawingml/2006/main">
            <a:r>
              <a:t>【扩展】向领导汇报时，可以再要求突出结论、需要支持和下一步。同一段记录能够服务不同沟通对象。</a:t>
            </a:r>
          </a:p>
          <a:p xmlns:a="http://schemas.openxmlformats.org/drawingml/2006/main">
            <a:r>
              <a:t>【转场】完整案例到这里结束。接下来回顾电脑与手机怎样接续同一个任务，并交流使用问题。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完整提示词</a:t>
            </a:r>
          </a:p>
          <a:p xmlns:a="http://schemas.openxmlformats.org/drawingml/2006/main">
            <a:r>
              <a:t>请依据以下拜访记录，生成内部行动清单和150字以内的客户跟进邮件。行动清单包含事项、负责人、时间和下一步。需要补充的字段列为交流确认事项。</a:t>
            </a:r>
          </a:p>
          <a:p xmlns:a="http://schemas.openxmlformats.org/drawingml/2006/main">
            <a:r>
              <a:t>培训记录：客户希望了解设备维护培训。销售负责周五发送培训主题介绍，客户下周反馈参加人数与关注内容，随后共同安排需求交流。邮件结构：感谢、沟通共识、下一步安排。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第03章</a:t>
            </a:r>
          </a:p>
          <a:p xmlns:a="http://schemas.openxmlformats.org/drawingml/2006/main">
            <a:r>
              <a:t>建议时长：0.25分钟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章节转场，15秒。回顾刚才的讲师示范，归纳方法并进入现场答疑。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案例示范  /  06 总结与交流</a:t>
            </a:r>
          </a:p>
          <a:p xmlns:a="http://schemas.openxmlformats.org/drawingml/2006/main">
            <a:r>
              <a:t>建议时长：2.25分钟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【45秒回顾】结合示范回顾任务、资料、输出和连续追问四个动作。讲清电脑准备、手机复习、会后跟进之间的连接。</a:t>
            </a:r>
          </a:p>
          <a:p xmlns:a="http://schemas.openxmlformats.org/drawingml/2006/main">
            <a:r>
              <a:t>【90秒答疑】回答关于界面入口、功能选择和提示词写法的问题。最后指向课后学习资源。到此主课共30分钟。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课后学习</a:t>
            </a:r>
          </a:p>
          <a:p xmlns:a="http://schemas.openxmlformats.org/drawingml/2006/main">
            <a:r>
              <a:t>建议时长：课后参考，不计入30分钟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按学员关注的工作场景介绍课后课程入口。基础操作对应AI Skills Navigator，岗位场景对应Microsoft Learn，完整任务流程对应AI Tool Lab。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0e22a1e9c4f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9f0e9c0e1c4df7" /><Relationship Type="http://schemas.openxmlformats.org/officeDocument/2006/relationships/slideLayout" Target="/ppt/slideLayouts/slideLayout1.xml" Id="Rb5e40e6cffa5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40e6cffa5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b0b736dbf449f" /><Relationship Type="http://schemas.openxmlformats.org/officeDocument/2006/relationships/image" Target="/ppt/media/image.png" Id="Re51f2587ce494bc0" /><Relationship Type="http://schemas.openxmlformats.org/officeDocument/2006/relationships/notesSlide" Target="/ppt/notesSlides/notesSlide1.xml" Id="Rffb7529a878344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9ff03cc394d40" /><Relationship Type="http://schemas.openxmlformats.org/officeDocument/2006/relationships/image" Target="/ppt/media/image2.png" Id="Recae0af439514f76" /><Relationship Type="http://schemas.openxmlformats.org/officeDocument/2006/relationships/notesSlide" Target="/ppt/notesSlides/notesSlide2.xml" Id="Rdd2546a7cbda4b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9c20052984465" /><Relationship Type="http://schemas.openxmlformats.org/officeDocument/2006/relationships/image" Target="/ppt/media/image3.png" Id="R8e66fa2870d345f7" /><Relationship Type="http://schemas.openxmlformats.org/officeDocument/2006/relationships/notesSlide" Target="/ppt/notesSlides/notesSlide3.xml" Id="Rddf5d3dd73d74c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5510e1c6c4d73" /><Relationship Type="http://schemas.openxmlformats.org/officeDocument/2006/relationships/image" Target="/ppt/media/image4.png" Id="R10688d2fb95a41cc" /><Relationship Type="http://schemas.openxmlformats.org/officeDocument/2006/relationships/notesSlide" Target="/ppt/notesSlides/notesSlide4.xml" Id="Rb3e02bfa3b0e4b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566f681194be3" /><Relationship Type="http://schemas.openxmlformats.org/officeDocument/2006/relationships/image" Target="/ppt/media/image5.png" Id="Rfd8eb75fd6894897" /><Relationship Type="http://schemas.openxmlformats.org/officeDocument/2006/relationships/notesSlide" Target="/ppt/notesSlides/notesSlide5.xml" Id="R202b33adbc5a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7b42f6dc14c59" /><Relationship Type="http://schemas.openxmlformats.org/officeDocument/2006/relationships/image" Target="/ppt/media/image6.png" Id="R3746ccc2cd4c47ba" /><Relationship Type="http://schemas.openxmlformats.org/officeDocument/2006/relationships/notesSlide" Target="/ppt/notesSlides/notesSlide6.xml" Id="R688af3e02aca4a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94d35ed79453d" /><Relationship Type="http://schemas.openxmlformats.org/officeDocument/2006/relationships/image" Target="/ppt/media/image7.png" Id="R99512367648e4a8c" /><Relationship Type="http://schemas.openxmlformats.org/officeDocument/2006/relationships/notesSlide" Target="/ppt/notesSlides/notesSlide7.xml" Id="Rf0efd7ac552540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ce296f5fd42f4" /><Relationship Type="http://schemas.openxmlformats.org/officeDocument/2006/relationships/image" Target="/ppt/media/image8.png" Id="R0e809250b8ff43d1" /><Relationship Type="http://schemas.openxmlformats.org/officeDocument/2006/relationships/notesSlide" Target="/ppt/notesSlides/notesSlide8.xml" Id="R3f46540508bf46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0987c860047af" /><Relationship Type="http://schemas.openxmlformats.org/officeDocument/2006/relationships/image" Target="/ppt/media/image9.png" Id="Rb2a72293bfc84950" /><Relationship Type="http://schemas.openxmlformats.org/officeDocument/2006/relationships/notesSlide" Target="/ppt/notesSlides/notesSlide9.xml" Id="Rc28a0a7bf21d46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bc39461d44ebf" /><Relationship Type="http://schemas.openxmlformats.org/officeDocument/2006/relationships/image" Target="/ppt/media/image10.png" Id="R3724797bbe8d4a24" /><Relationship Type="http://schemas.openxmlformats.org/officeDocument/2006/relationships/notesSlide" Target="/ppt/notesSlides/notesSlide10.xml" Id="Reca680cd150f4a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3aaf9d1464809" /><Relationship Type="http://schemas.openxmlformats.org/officeDocument/2006/relationships/image" Target="/ppt/media/image11.png" Id="R0e7d9d33b2a546ac" /><Relationship Type="http://schemas.openxmlformats.org/officeDocument/2006/relationships/notesSlide" Target="/ppt/notesSlides/notesSlide11.xml" Id="Rf4bfa4a68f294f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cf688a7a340a9" /><Relationship Type="http://schemas.openxmlformats.org/officeDocument/2006/relationships/image" Target="/ppt/media/image12.png" Id="R388a2f3bfaca4760" /><Relationship Type="http://schemas.openxmlformats.org/officeDocument/2006/relationships/notesSlide" Target="/ppt/notesSlides/notesSlide12.xml" Id="R9d183d35a2314d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9f43ebefa4a1a" /><Relationship Type="http://schemas.openxmlformats.org/officeDocument/2006/relationships/image" Target="/ppt/media/image13.png" Id="Re260dfd78dd649fd" /><Relationship Type="http://schemas.openxmlformats.org/officeDocument/2006/relationships/notesSlide" Target="/ppt/notesSlides/notesSlide13.xml" Id="Ra72b97c700b140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22dee66f1475f" /><Relationship Type="http://schemas.openxmlformats.org/officeDocument/2006/relationships/image" Target="/ppt/media/image14.png" Id="R7a368bf83ae74a4e" /><Relationship Type="http://schemas.openxmlformats.org/officeDocument/2006/relationships/notesSlide" Target="/ppt/notesSlides/notesSlide14.xml" Id="Rdca4d36e0f8a48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6f4ca38e64059" /><Relationship Type="http://schemas.openxmlformats.org/officeDocument/2006/relationships/image" Target="/ppt/media/image15.png" Id="R6aa33209f310401d" /><Relationship Type="http://schemas.openxmlformats.org/officeDocument/2006/relationships/notesSlide" Target="/ppt/notesSlides/notesSlide15.xml" Id="R64793623397542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47c8a97d8407f" /><Relationship Type="http://schemas.openxmlformats.org/officeDocument/2006/relationships/image" Target="/ppt/media/image16.png" Id="R133e3d8e4a2b449d" /><Relationship Type="http://schemas.openxmlformats.org/officeDocument/2006/relationships/notesSlide" Target="/ppt/notesSlides/notesSlide16.xml" Id="Re1911fc59c2848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569d722c7430d" /><Relationship Type="http://schemas.openxmlformats.org/officeDocument/2006/relationships/image" Target="/ppt/media/image17.png" Id="Rc496c8863754482c" /><Relationship Type="http://schemas.openxmlformats.org/officeDocument/2006/relationships/notesSlide" Target="/ppt/notesSlides/notesSlide17.xml" Id="Rf9ea7df859414b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9cc8b898b4fc7" /><Relationship Type="http://schemas.openxmlformats.org/officeDocument/2006/relationships/image" Target="/ppt/media/image18.png" Id="R5780eab470d94f9d" /><Relationship Type="http://schemas.openxmlformats.org/officeDocument/2006/relationships/notesSlide" Target="/ppt/notesSlides/notesSlide18.xml" Id="R66e67f94019d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A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f2587ce494bc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A3018E-EA48-4B43-BFDB-774EEBEA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79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B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BC9FF"/>
                </a:solidFill>
                <a:latin typeface="Microsoft YaHei"/>
                <a:ea typeface="Microsoft YaHei"/>
                <a:cs typeface="Microsoft YaHei"/>
              </a:rPr>
              <a:t>服务销售部门培训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82476D7-BB61-4632-A4E3-3DBFD9E9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57213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C4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C4E1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ED5D20-2F59-4E5D-869B-8C9F8C4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3471699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Copilot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2BDB3B0-F8B8-48F9-AFAA-1F1D1D4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401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从认识功能到完成工作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1449EF7-7C49-4C63-B367-0D86C28F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021711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BD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BD9F7"/>
                </a:solidFill>
                <a:latin typeface="Microsoft YaHei"/>
                <a:ea typeface="Microsoft YaHei"/>
                <a:cs typeface="Microsoft YaHei"/>
              </a:rPr>
              <a:t>服务销售30分钟培训：资料准备、客户交流与会后跟进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0105F8E-8B6F-43FF-A68A-9A2FDE7B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671956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650" b="0">
                <a:solidFill>
                  <a:srgbClr val="8B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0" b="0">
                <a:solidFill>
                  <a:srgbClr val="8BC9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984C718-960E-40F0-AA81-5D3F11E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43525"/>
            <a:ext cx="124420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9D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D8F5"/>
                </a:solidFill>
                <a:latin typeface="Microsoft YaHei"/>
                <a:ea typeface="Microsoft YaHei"/>
                <a:cs typeface="Microsoft YaHei"/>
              </a:rPr>
              <a:t>MINUTES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EC254D4-50EC-4C59-87D5-C618341C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0707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15分钟功能入门，15分钟案例示范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0DDB767-154B-43F0-9BAD-340D7821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72300"/>
            <a:ext cx="284767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D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D8F5"/>
                </a:solidFill>
                <a:latin typeface="Microsoft YaHei"/>
                <a:ea typeface="Microsoft YaHei"/>
                <a:cs typeface="Microsoft YaHei"/>
              </a:rPr>
              <a:t>电脑讲解 · 手机应用 · 案例示范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0CB72FD-0580-4A8D-9C29-3339AAA8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C4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4E1"/>
                </a:solidFill>
                <a:latin typeface="Microsoft YaHei"/>
                <a:ea typeface="Microsoft YaHei"/>
                <a:cs typeface="Microsoft YaHei"/>
              </a:rPr>
              <a:t>建议 1 分钟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827D427-373C-4146-9B85-1D6163C0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C4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C4E1"/>
                </a:solidFill>
                <a:latin typeface="Microsoft YaHei"/>
                <a:ea typeface="Microsoft YaHei"/>
                <a:cs typeface="Microsoft YaHei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20770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3D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e0af439514f7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53F57B-A301-4821-80AA-A962FF72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8433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1C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CBFF"/>
                </a:solidFill>
                <a:latin typeface="Microsoft YaHei"/>
                <a:ea typeface="Microsoft YaHei"/>
                <a:cs typeface="Microsoft YaHei"/>
              </a:rPr>
              <a:t>第01章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8EFA47-5337-4053-BD52-50F33455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52E72FB-E800-4258-B82A-02409E1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155073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Copilot 功能与使用方法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F539C9-5FBF-400A-98D3-84213564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0221"/>
            <a:ext cx="2765569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050" b="0">
                <a:solidFill>
                  <a:srgbClr val="7DC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0" b="0">
                <a:solidFill>
                  <a:srgbClr val="7DC0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BB022B5-F6B3-4E81-834A-4AFCD35C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51373"/>
            <a:ext cx="626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先理解能做什么，再学会把工作交代清楚。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59EBEF-FAA0-4EF5-B4A5-40EFB5AF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0396"/>
            <a:ext cx="568196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3D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3DDF4"/>
                </a:solidFill>
                <a:latin typeface="Microsoft YaHei"/>
                <a:ea typeface="Microsoft YaHei"/>
                <a:cs typeface="Microsoft YaHei"/>
              </a:rPr>
              <a:t>任务与提示词　·　文件与办公应用　·　电脑与手机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E4AFFD7-C61C-4C5A-944E-0E820F41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32362"/>
            <a:ext cx="537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C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ECBFF"/>
                </a:solidFill>
                <a:latin typeface="Microsoft YaHei"/>
                <a:ea typeface="Microsoft YaHei"/>
                <a:cs typeface="Microsoft YaHei"/>
              </a:rPr>
              <a:t>本章目标：能选择入口，提出一条完整的工作任务。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7AF4C44-9F9E-4AA7-80E9-C15E831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1188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建议 0.25 分钟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2453C05-DF19-4995-A0D4-05778635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883624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6fa2870d345f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D6142B-F968-4E9A-ABBA-C89F7202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34268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01 认识 Copilot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B8AF44-B524-4207-9961-5010B4B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5E7978-F4CB-4A46-9DAD-D9B1C4D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49601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Copilot 的作用：从资料到成果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8C2EAB4-3798-4B8A-B4A2-FD94AD1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41168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30分钟的学习主线：理解输入，组织任务，使用输出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82CC8F9-2DF4-44E1-A3CF-22CAD57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25769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从真实工作出发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79FB322-BFD6-4250-8097-D66E4BA9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59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服务销售经常面对几份资料、一串邮件和一段会议记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5BEF55B-9908-4628-BBE8-DEE06823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6015038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录。Copilot 可以按你的问题阅读这些内容，把信息整理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163A902-E093-4F6B-B079-CAE5B9A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3209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成简报、对照表或沟通草稿。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BE782E2-61EC-4270-9DD3-B8146D9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28436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通过对话逐步完成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79AB4D3-1F97-4AEF-82BB-933F046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第一轮交代任务和资料，第二轮补充重点，第三轮调整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1852577-F00C-48A6-BDE8-1F424357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格式。每次追问都沿用前面的内容，结果会逐渐贴近这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B0F389E-2B33-4F17-A741-2A450C2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次工作的目的。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1EA79DB-BBBB-4396-836D-A9BAC390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331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同一份服务记录，可以得到不同成果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0A7B11C-8C3B-49E5-888C-37C76D0B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准备拜访时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0833EF6-B0F7-42BC-A33B-17260D92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“提取客户关注点，并列出下次交流的问题。”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8F2AB70-C4CF-49C1-98B4-16E7C166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8511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内部协同时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F280C03C-68EC-4F7E-B5E2-96A4B95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7611"/>
            <a:ext cx="445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“整理为事项、负责人和时间的行动表。”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532D76F-43F7-46AC-91D9-0AF7EE00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9713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对客户沟通时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8D3AC65B-9BE5-418A-88A7-F1E582C5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38813"/>
            <a:ext cx="3771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“据此起草一封简洁的跟进邮件。”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BED396D6-984B-4D19-B70A-B97CF51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44E8666-ED85-46CF-8996-2864400E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559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先说清准备拿结果做什么，再选择功能和输出形式。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2F1417E-56B4-47B3-89D4-31AA6FBB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1188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1.75 分钟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9C8BD3F9-8C99-4CF5-897D-09D7EA77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076776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88d2fb95a41c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C434FA5-BE16-4141-987E-E6537FA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34268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01 认识 Copilot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304C50-D96D-4049-A7FC-736081D1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55A72E-F6B4-4151-9D6B-0DD66BD6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03611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电脑端：开始任务与连续追问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4906B9-7865-48D1-9C27-518DF453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631596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在浏览器打开 m365.cloud.microsoft/chat，用工作账号登录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AF0B18-81D6-4B69-8458-E816EE68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44438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开始：给这个任务一个独立对话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E6ABE19-B7E5-48F1-B04F-2DD7FBB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78271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点击左侧 New chat，在输入框写下工作需求。需要分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B25CD9A-BB71-4565-9F21-A1B6DB1E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670649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析资料时，点击输入框旁的 + 添加文件，让任务和资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8E93BD4-28AE-4999-9C0B-6A5E684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料放在一起。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A8E49E8-F8CA-4F7B-A820-F9929881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41771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继续：沿着同一任务完善结果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C78F1D0-003A-4F26-9326-4312BAC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收到回答后，直接追问“展开第二点”“改成表格”或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AC4D83E-CD85-4310-B249-8A1E078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92403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“压缩到一页”。稍后可在左侧 Chats 找回这段对话，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10901D1-9E3A-4647-8328-508F730E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继续处理。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447034C-E661-41ED-AEEB-B2C9D878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6437709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rPr>
              <a:t>左侧开始和找回对话；底部输入任务、添加资料。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D17DEC9-57F4-4088-A691-63B05CA8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58327F5-39F0-45DB-A0BC-A3F1143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535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新任务开新对话；同一任务用连续追问逐步完善。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9C7B0A1-C0D5-4DEA-A61D-CE28DB0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 分钟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1C5FAEE-D821-4750-AE5D-B94D12D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6630200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eb75fd689489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8A7675-0428-4390-A261-152BD2D9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02 提问与资料处理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344483-C491-4C00-B209-4B397EAB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E0564F-7756-44D8-91ED-EEEF27D4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597122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提示词：把工作交代完整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4FBD3B9-3128-484E-B6AE-73810ED5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60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目标、背景、来源和输出要求，各自回答一个具体问题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A3EA2D8-FF09-41DF-814B-4B9A9589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33770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先交代工作目的与对象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D233408-A3C3-48D3-841C-FAC3ACC1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目标说明要做什么，背景说明给谁用、在什么场景用。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FBA794-7C85-47D9-98F5-763C6565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“整理服务记录”可以进一步说成“为下周客户拜访准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11490BE-3DBB-4E3A-8CFF-4920C07B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备交流提纲”。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5F9DB26-3D24-4D08-9D59-1930E47E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33770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再交代依据与成品形式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F03024A-62F6-41A5-BF02-A86D773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4745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来源告诉 Copilot 读哪些内容，输出要求说明交付长什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1C090EC-EDA7-4F9F-B48C-3A0D142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么样。明确篇幅、栏目和语气，通常能减少后续整理工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750EFD6-83B1-4388-A509-472CB58B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59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作。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827F036-D47D-4ABF-922F-ED20912A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2114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可直接模仿的一条任务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FF1BD1A-6FD3-4290-81B4-9E1592BC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目标与背景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372D384-00D1-4055-949A-A4982664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我是服务销售，为下周客户拜访准备交流提纲。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5A18E1A-ECC5-4F08-9739-C251E953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8511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资料来源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10AA1EF-5A4A-4722-90A4-47C9C7F6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7611"/>
            <a:ext cx="537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请根据我上传的本季度服务记录，整理客户关注点。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B00E54A-1721-4A39-9810-C32030B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9713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输出要求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E2B1AA7-CE62-466B-83C4-F696B57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38813"/>
            <a:ext cx="674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用一页表格呈现：关注点、对应记录、建议问题。每个问题用一句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F9B8F3EF-EE74-4F44-ACA2-F1FE1336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22789"/>
            <a:ext cx="194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自然的口语表达。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BE1647C-BB80-4A25-89FC-16A3952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A47616B3-CF57-4144-8A54-734EDDE0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678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先把任务说完整，再用“展开、比较、改写、压缩”继续追问。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64552894-9DD1-4896-935C-E0918B21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 分钟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CD7FE103-F0FC-4F03-AFEA-1190B61E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1973024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6ccc2cd4c47b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158C66-1364-419A-AEC5-2EC61A61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02 提问与资料处理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3726CB-BE6F-4C88-A74E-D4D91CF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742513-BFEB-48FA-BCFA-79C4E30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03611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文件分析：阅读、比较与输出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374781-688B-49B9-8BBB-74C29322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605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上传文件后，可以先理解内容，再比较信息，最后整理成果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CFB2F24-9D3B-4987-9F6F-59CEE8D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31103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第一轮建立资料全貌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D9F9F2A-82D5-47D0-817E-1837793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4745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添加文件后，请 Copilot 概括每份资料的主题、时间和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0C47E60-C7A9-4F9F-82D6-5883D88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59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主要内容。这一步帮助你选择接下来要深入的问题。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991EA1D-CDD0-4DB4-A058-69418DC0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9775"/>
            <a:ext cx="36437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第二轮围绕业务目的整理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3E592B4-0910-4118-8911-5ED18A58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1240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例如按客户、服务事项或时间整理多份记录，列出共同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CCE4704-7CDA-4511-8EF5-76B7CF60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点与差异。随后要求生成表格，并在要点旁标出文件名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8B86EE4-85C1-4942-AB5A-4101B749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2733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和原文位置，方便回看。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75241FC-77CA-44DC-B119-25577BF3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三轮对话怎样推进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76367AF-A9C1-4AD5-814F-A1D8414B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读懂资料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C52916A-D623-44F5-9348-F60E38A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“这三份资料分别讲什么？请各用两句话概括。”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03E3128-909A-419D-AAE4-D343DA7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8511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比较内容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D6DF2C7-317C-4780-8E3A-588A26A3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7611"/>
            <a:ext cx="537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“按项目时间、负责人和交付物，对比三份资料。”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7B42142-3A0E-4FB4-A0C9-EA24BD7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9713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形成成果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36E715E-D1B6-49CE-9119-AFDD29F7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38813"/>
            <a:ext cx="537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“将比较结果整理为一页项目简报，附原文位置。”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013B1B2-9C8F-4556-8638-86F48509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0213AD6C-F0C0-4251-BC6A-65E91E65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682555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“读懂 → 比较 → 输出”是一套可以重复使用的文件工作方法。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8F7A3EE-61F6-41C3-956F-808ED50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 分钟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851521DE-3CB6-4E57-B87D-5022029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1206053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12367648e4a8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A6CA8E-32ED-4825-A8F8-D09CB7F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03 按场景选择功能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5D376E-0E0A-4944-ABF5-50BD4A39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6A8A9C7-A576-477B-8D48-81B0D35B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56856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办公应用：按工作内容选择入口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CBBDD89-E73E-4114-8C9C-4A0F271B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6419552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Chat 适合跨资料对话；应用内 Copilot 围绕当前内容提供帮助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1F58D65-FD3A-4DD0-9F8C-51C88FA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7209"/>
            <a:ext cx="887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9627A"/>
                </a:solidFill>
                <a:latin typeface="Microsoft YaHei"/>
                <a:ea typeface="Microsoft YaHei"/>
                <a:cs typeface="Microsoft YaHei"/>
              </a:rPr>
              <a:t>已经在读邮件、开会或写文档时，可以直接围绕当前内容提问，减少来回整理资料的步骤。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5E08420-8759-4C80-A598-92987E9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4897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工作入口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951D2F-A3BB-4BD2-B752-7A733C5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84897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它怎样帮助你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0D39539-8042-4FD0-A93F-7A284812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64" y="2984897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服务销售可以怎样使用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7FBAE73-9134-42F8-8BF8-2FBC467F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7347"/>
            <a:ext cx="185722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rPr>
              <a:t>Outlook / Teams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90360CC-CB18-4A8C-A4BD-DCB4F0DD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37347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总结邮件串和会议讨论，整理后续事项。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16D0E6B-C10E-4B3D-855D-40D3F6D5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64" y="3537347"/>
            <a:ext cx="430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看完客户沟通后，形成回复草稿和行动清单。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4454197-8348-4CDB-B1DD-47CB8E62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7897"/>
            <a:ext cx="213226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rPr>
              <a:t>Word / PowerPoint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26DB208-F954-481E-A772-D8D0C8F2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27897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起草文档、调整结构，组织演示内容。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89FB804-821B-4D29-A1AB-E41ABEEB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64" y="4127897"/>
            <a:ext cx="430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把已有服务资料整理成客户说明或内部汇报。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3129F43-638B-405E-92F8-C1FB14D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8447"/>
            <a:ext cx="64531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rPr>
              <a:t>Excel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CAE6237-EFFF-47F0-8005-C747212A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18447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按问题分析表格，汇总数据并呈现图表。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EB8ED31-CE75-433D-9197-E44D9C52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64" y="4718447"/>
            <a:ext cx="346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按区域、产品或时间查看销售数据。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91BB250-FE64-4FAE-A3C6-8136391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8997"/>
            <a:ext cx="14278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5598"/>
                </a:solidFill>
                <a:latin typeface="Microsoft YaHei"/>
                <a:ea typeface="Microsoft YaHei"/>
                <a:cs typeface="Microsoft YaHei"/>
              </a:rPr>
              <a:t>Copilot Chat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92812BB-2125-4E2F-8A74-7E35436A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08997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围绕文件、网页和连续对话处理任务。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5A06F15-1661-4A02-ADB8-58E9ED2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64" y="5308997"/>
            <a:ext cx="3257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把多处资料汇总为拜访准备简报。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3C94486-A837-446D-B22D-C10444C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选择方法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2FA1263-D4CD-4610-8EF4-AE8B9BE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511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先看任务和资料在哪里，再选择最顺手的入口。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5D1702E8-3792-473A-AFB8-4E2D7F30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 分钟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05103C52-10CC-4ECA-8B39-4C7EBDA8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776736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09250b8ff43d1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7C8F30-4CC6-47E7-B396-8D6F5B43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03 按场景选择功能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27DCF5-AE83-4D3F-855F-9B34620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617D5B-E6F6-4DCE-924E-A3C9164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56856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持续任务：笔记本、智能体与库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895CDEA-6962-4B82-849A-DC71233C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628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笔记本整理一组资料，智能体复用任务规则，库找回已有成果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019876E-1F56-4BD0-87FA-700E170D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44438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资料需要持续使用：放进笔记本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937E23C-B7C0-4903-B455-0965B53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围绕一个项目集中参考文件，在同一个资料集合上持续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F2F44E9-2FD6-46DC-8869-F82627F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提问、比较和总结。新进展加入后，可以继续更新项目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FC39E88-3C37-4436-92DC-0E234A59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828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简报。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15E24B1-8515-44AC-822C-D635093E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44438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任务需要反复完成：使用智能体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43A6025-BFB8-4A60-9C16-2D4DE27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智能体把角色、资料和输出方式组织在一起。产品手册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3BB8D53-8F3B-49C4-88E4-987F12C4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问答、会议跟进和销售漏斗分析，都能围绕固定任务开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9EDD488-0251-49A7-ACE4-BB30DDE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展工作。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DA50D72-89FA-41EC-96E8-31098C1E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网站中的功能如何对应工作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17403BB-122C-48F8-A0A6-82926C4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238244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Copilot Notebooks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21A1BC9B-7EA8-47EF-B669-25B8D62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448181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把多份项目资料整理成一页 Project Brief。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177FC57-CEAB-4CE3-8905-20C51238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8511"/>
            <a:ext cx="3195042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Meeting Follow-up Agent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61F4229-1D37-40FD-8FB5-EB745AA5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7611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依据纪要形成内部行动、客户邮件和领导摘要。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F6E2ED6-9303-426F-BBDC-03FBAACC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9713"/>
            <a:ext cx="190247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Copilot Library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28707DC-1ADE-4554-B9FB-C91EA22E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38813"/>
            <a:ext cx="5829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从“图片”和“页面”中找回已创建的内容，继续使用。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8FF289D-B67D-47F3-B987-B7582A1E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D53EECC-23D8-47C7-9517-FE98E25D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笔记本管一组资料，智能体管一类任务，库帮助找回成果。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6162AE4-41AD-4A69-8B7F-35584F1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 分钟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1F1A5695-3ECF-4004-AF72-3AFA472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620748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72293bfc8495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D060AE-48DB-45CA-B723-7A8FC210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功能与方法 / 03 按场景选择功能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200FAB-B5C0-4776-ABB0-A26CFDE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153EB9-E3CB-4B11-A315-83CED39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56856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手机端：登录、找回与继续提问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6C1DEF7-4574-42D9-88A5-3A7343DB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98869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安装 Microsoft 365 Copilot，使用与电脑一致的工作账号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821A563-8D09-40CA-A447-ABABA0F5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36437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先完成登录，再找到对话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0477007-7523-4AC7-B753-B6142E4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从公司软件门户或官方应用商店安装，按提示完成工作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EE4C501-48CA-4497-BCB3-2A874C4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账号登录和身份验证。打开左上菜单，找到此前的工作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EDEC0A9-C281-4E17-866A-68B6443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828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对话。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A663A8E-8EC9-4A84-9A27-8237B9A5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33770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围绕移动场景调整内容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7EB4EF4-8F9A-4857-AC88-2691B86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手机上可以继续输入问题，用加号添加内容，或点击右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576F984-0FC4-4396-AF9D-1818F2BA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下角新建任务。把长简报改成短清单，会更方便到访前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AC64C5A-E4E5-4FB4-A7E3-11DBDAE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828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浏览。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C4A05C0-D68F-4312-BBD4-6D866977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6656784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rPr>
              <a:t>左上菜单找回对话，底部输入任务，右下角新建。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4A7094E-3137-45EB-B177-E9B68411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484FA4E-4397-47AF-AE28-18BD370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6543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电脑集中准备，手机接续阅读和提问，沿用同一份工作内容。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B11C223-ACBF-48DC-A6C8-A02F9EAB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90353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 分钟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5784AC6-F472-4A56-A18E-79110EF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1849111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3D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4797bbe8d4a24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ACE31E-4C73-43C1-86F3-A94072F5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8433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1C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CBFF"/>
                </a:solidFill>
                <a:latin typeface="Microsoft YaHei"/>
                <a:ea typeface="Microsoft YaHei"/>
                <a:cs typeface="Microsoft YaHei"/>
              </a:rPr>
              <a:t>第02章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B7481B-9D4D-4F16-93DE-7FDADA9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952781-04D1-4E60-8F45-28AB3F00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7513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客户拜访案例示范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81B5BB9-B386-4891-A2CE-605B1C2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0221"/>
            <a:ext cx="3248308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050" b="0">
                <a:solidFill>
                  <a:srgbClr val="7DC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0" b="0">
                <a:solidFill>
                  <a:srgbClr val="7DC0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BFD84F4-D09A-4736-BE2B-94A99110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51373"/>
            <a:ext cx="7886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跟随讲师，看一次任务怎样从资料准备走向工作成果。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49C75D6-A9BB-49D8-B41A-B6963D2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0396"/>
            <a:ext cx="543431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3D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3DDF4"/>
                </a:solidFill>
                <a:latin typeface="Microsoft YaHei"/>
                <a:ea typeface="Microsoft YaHei"/>
                <a:cs typeface="Microsoft YaHei"/>
              </a:rPr>
              <a:t>电脑准备简报　·　手机复习　·　会后行动与邮件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877BD85-825E-4668-9DBB-1D38247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32362"/>
            <a:ext cx="4229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C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ECBFF"/>
                </a:solidFill>
                <a:latin typeface="Microsoft YaHei"/>
                <a:ea typeface="Microsoft YaHei"/>
                <a:cs typeface="Microsoft YaHei"/>
              </a:rPr>
              <a:t>本章目标：看懂每轮追问怎样推进工作。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5466A2C-5A1E-4BCD-BCF9-049850C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1188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建议 0.25 分钟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E20E87E-DE11-4E83-9A8D-C5AE3ED3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791948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d9d33b2a546a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371F5C-A116-4763-9398-69D49878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案例示范 / 04 电脑端拜访准备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6A610A-B105-4045-9E42-0DE4CD0A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25C1EF-C06C-4BCD-96EB-4A1E8D1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50367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拜访准备①：调研客户背景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B814B19-3BC4-4556-99E5-8F20987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829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准备拜访上海市第六人民医院，先在电脑端形成背景简报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563B935-7B23-4B54-9305-E79750C5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28436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这一轮要解决什么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6042D11-B5BE-47DE-9E74-1FFE06D7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第一次拜访前，需要了解客户背景和近期公开动态。把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7E1EB7-4691-4D79-B8E8-FE500A28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11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医院名称、服务销售角色和拜访目的写进任务，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502C446-6796-417D-A2F4-59AB934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4110038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Copilot 就能围绕这个场景组织资料。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85677C3-1654-4508-B099-576D7C9D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23102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怎样发出任务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317AB2F-26D3-4656-B128-F3571EA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请查阅医院官网等公开资料，整理医院概况、近两年动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A09B903-1718-499C-9851-BF1FEA59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态和服务交流话题，形成一页简报并附来源。第一轮先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307BECD-30BC-4DC6-8365-20B6BB9A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3209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看内容是否覆盖这几个部分。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ED7C249-9677-4A92-9B98-AA5BE6AA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078" y="6437709"/>
            <a:ext cx="45123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rPr>
              <a:t>第一轮回答形成“医院概况—公开动态—交流方向”的框架。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3D893E1-A288-42EC-B10C-39FBB76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79D7AAA0-5465-4F06-9C75-5A216B28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7019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第一轮解决“了解什么”，下一轮把信息整理成便于交流的结构。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5B59EB19-4F95-48BC-891D-7105897D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0295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2.5 分钟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45FA095-1A4C-4650-9C49-2F8F21A7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595664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a2f3bfaca476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9F3293-55DB-4FBF-BFBF-CCAED3B2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案例示范 / 04 电脑端拜访准备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2DEF8C-AA85-403D-9CF7-9110717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F085D9-4C0E-409C-BCDC-47622F66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81010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拜访准备②：分类信息，确定话题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D6305A8-2851-4884-94F3-ABEA7073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605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从一篇资料摘要，变成有出处、有方向、有问题的拜访准备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5A96754-DC29-470D-9E66-C787BDF0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33770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公开信息用于理解背景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B1725EA-318E-4ABE-B3BD-22A031FD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4745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让 Copilot 为公开信息附来源与日期，再点开原文阅读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59ADA53-7D9C-41A3-86D2-D7FF960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相关段落。遇到不同时间或统计口径，把各自描述并列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397C4F1-208E-4075-B51D-EE9EDD8D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呈现，便于理解变化。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DE6D03A-DD0B-4E3C-B860-7F512C79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33770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服务方向用于组织交流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45A0407-42C3-4D6D-BAF5-E7394229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结合公开动态提出值得了解的话题，再把设备管理、维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F5D0877-601E-4106-8CD9-6CE1020E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护安排或培训计划转成客户交流事项。背景信息由此变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EC63548-33F8-44F8-BC9F-84085E1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成下一轮提问的依据。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DE18B65-AF60-4C27-B0A3-EE1272BF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6437709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rPr>
              <a:t>追问后，回答按公开事实、讨论方向和交流事项重新组织。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C14F275-1890-47D4-9D96-E22860C8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CF9DDB0-6F50-489C-A7DD-9CF85D1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6067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每一项背景信息，都应帮助你确定一个值得了解的问题。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3E1EA8D-6135-47A4-9E1B-6F59E666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0295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2.5 分钟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D0F96BA-8BF2-49D6-9437-98580B64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89031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0dfd78dd649f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F3EDC7-6BDF-4638-BF9E-9D696B7D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案例示范 / 04 电脑端拜访准备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340FB98-6E07-4B17-94A5-1DF1F70D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56055E-1FD2-46D6-9109-A21C570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81010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拜访准备③：形成问题与一页简报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D1CC914-DD8A-4776-9D0B-F4CDCDD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60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好的拜访准备，应当帮助你开口交流，也方便随时回看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5CDBC3C-4559-4EE6-A804-0692E160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36437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先把话题变成开放式问题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1C891C0-0057-4613-89AB-ABA502F0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4745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请 Copilot 围绕设备运维、服务目标与培训计划生成五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2A4EA3F-F8C3-4FBF-BE93-DB85E67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个问题。例如：“目前怎样安排预防性维护？”客户可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1957CBE-999B-4D09-B1CB-342AE31F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以据此介绍现有做法和关注点。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5CE773F-D809-46F8-A4F1-8AA23656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41771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再把全部准备内容压缩到一页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67990AB-99F3-48DD-BA5A-5DAF34DC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沿用前面的对话，要求保留医院概况、近期动态、服务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10609E0-EA31-4654-A0E6-E9F1D7F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话题、五个问题及来源。用短句分点呈现，方便拜访前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559E16B-8212-46F5-B744-6B30656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201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回顾和现场查阅。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75199FD8-A33C-4C12-B5D3-50E66E3A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2114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一页简报应该怎样组织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5ACF816-2950-44D5-A902-D43612E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201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上半页：了解客户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EBD0C5F-0942-4AE1-964C-C2BA731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445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医院概况与近期动态，每条保留关键来源。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B81C6AE-1A43-4C1D-A119-A6F06D4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8511"/>
            <a:ext cx="201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下半页：准备交流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B691AE9-E282-4E42-9B56-ECC3EFB6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7611"/>
            <a:ext cx="628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三个服务话题、五个开放式问题，以及本次希望了解的事项。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5A05D9E-476A-45EE-A4E6-4984622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9713"/>
            <a:ext cx="2257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完成后：再调整表达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C51964E-746A-46D6-8F2D-48242ED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38813"/>
            <a:ext cx="5774382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“请压缩到500字以内，把拜访问题改成自然的口语。”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8412E5D-9DAA-43CB-A124-9C11B849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385E1E38-E311-478C-BDF5-9D1D3C6A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744274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“收集背景 → 组织话题 → 形成问题 → 汇总简报”完成电脑端准备。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F810640F-8816-4628-9720-A6B9FA96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0295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2.5 分钟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3FE42E7E-8793-4920-8ECA-5CB17E6B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914650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68bf83ae74a4e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EECC5E-0B6F-4570-9C1F-3B38DEC0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案例示范 / 05 手机复习与会后跟进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4C11D6-0BF5-41E9-911A-E00517FB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FFC1B8-F4D5-4280-A692-6D6F398B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597122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到访前：一分钟复习清单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9E9D2C3-B51C-4A9E-B790-0A3D157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手机端沿用原对话，调整的是阅读方式和重点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753EEE-CD4A-4C00-A8E8-0BC4024C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44438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操作：找到简报，发出压缩任务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121A106-7CD2-4AC5-8A78-0498D43C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在手机菜单中打开对应对话，输入：“请把这份简报整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E103217-3643-4DEA-B089-BDDD39C7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理为一分钟复习清单。”再说明保留三条背景、三个话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5807D2C-FC66-45E3-A867-DEDBF5F5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题、五个问题和交流事项。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05600CF-4BBB-496D-92DD-8CAF088B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36437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使用：带着问题进入拜访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0479AE2-CC64-466E-AE1D-9D2F975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先快速回顾客户背景，再浏览本次交流重点。需要展开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7795C20-40DC-4162-9C16-72F7468E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4745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某个话题时，可以继续追问，让 Copilot 把问题解释得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AA7E4F9-8F7C-421F-89C5-54C3FD80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677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更具体。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6979D5B-8AE4-430B-B161-7E440CE8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6656784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990"/>
                </a:solidFill>
                <a:latin typeface="Microsoft YaHei"/>
                <a:ea typeface="Microsoft YaHei"/>
                <a:cs typeface="Microsoft YaHei"/>
              </a:rPr>
              <a:t>同一份拜访内容，调整为适合手机快速浏览的短清单。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21515100-3DC0-4DBE-9361-4D901C80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ECFE712-3B5F-470D-98C8-6E541A29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7019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材料准备在电脑完成，现场复习在手机完成，两端接续同一任务。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2E372A0-9E17-408F-B898-82DA352A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02959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2.5 分钟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0890992-46F3-4345-967F-8552A0D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5739543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33209f310401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466512-2C08-4327-85F8-58ADE01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829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案例示范 / 05 手机复习与会后跟进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9F7E5E-6B81-457E-8397-02D84725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02CA74-9A9C-4BCE-952E-72538119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03611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拜访后：行动清单与客户邮件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BB6F5F-A06B-4829-A401-2461726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37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内部需要执行清单，客户需要沟通共识与下一步安排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61839CB-D110-4918-A223-236E83D0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41771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先把讨论内容写成清楚的记录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8F39D1-BA6E-49C7-9302-21AA32EE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培训案例：客户希望了解设备维护培训。销售周五发送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563533B-5F9F-46FF-9175-135DC8D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主题介绍，客户下周反馈人数与关注内容，随后共同安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9FAAF33-0B9B-4A31-AC79-97D45DD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排需求交流。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6A76709-5F5B-4FD2-8477-2314483B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36437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再根据读者选择表达方式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89CF2AF-D19C-4A56-8437-070DA792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给内部同事看，按事项、负责人和时间排成表格；给客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89638E7-8F0D-4EE2-809A-EB661BDD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户看，用感谢、沟通共识和下一步串成一封简短邮件。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61A273C-2E22-4EEB-8FE5-997E5DCE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两种输出如何对应同一记录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4778D44-912D-4195-873A-FABA2C6A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内部行动清单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591B7A2F-BE04-421B-B043-C18729C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331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销售｜周五发送培训主题介绍。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D0FEC1DA-7A7D-4473-99DC-DACC86D8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0386"/>
            <a:ext cx="354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客户｜下周反馈人数与关注内容。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DCFD3BD-BEEA-4594-9169-0F1B5EE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2488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客户跟进邮件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E8C8161-C6CA-41C5-965D-6D24375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1588"/>
            <a:ext cx="674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感谢您分享培训需求。我们将于周五发送主题介绍，期待您下周反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3A4E642D-5A45-435B-8BAD-EC7FE37B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65564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馈参加人数与关注内容，随后共同安排需求交流。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2DDB018-A2AA-4586-9E75-EB4BFC69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8B25C31-B3FC-4061-A685-DDA52B8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535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内容来自同一段记录；表达重点由接收对象决定。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741D1D0A-1C12-44AB-AEA6-51A730D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1188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2.25 分钟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8C62A932-3E92-42F3-8F63-289F2AAA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8341279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3D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e3d8e4a2b449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AB5B92-BEDC-4D90-9D7C-A7A5E114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88433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1C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1CBFF"/>
                </a:solidFill>
                <a:latin typeface="Microsoft YaHei"/>
                <a:ea typeface="Microsoft YaHei"/>
                <a:cs typeface="Microsoft YaHei"/>
              </a:rPr>
              <a:t>第03章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2304AB-41B1-4EEF-9E9A-6897D627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0DBD67-182A-44F7-B2C8-22BD82F7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42624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总结与交流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FC1251D-3443-44D6-915E-5C18F8B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0221"/>
            <a:ext cx="3248308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050" b="0">
                <a:solidFill>
                  <a:srgbClr val="7DC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0" b="0">
                <a:solidFill>
                  <a:srgbClr val="7DC0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4D0A397-D518-4C29-B803-026C051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51373"/>
            <a:ext cx="6591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回顾完整示范，把功能与实际工作对应起来。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235D690-F0F7-401E-BB72-35CD118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0396"/>
            <a:ext cx="518666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3D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3DDF4"/>
                </a:solidFill>
                <a:latin typeface="Microsoft YaHei"/>
                <a:ea typeface="Microsoft YaHei"/>
                <a:cs typeface="Microsoft YaHei"/>
              </a:rPr>
              <a:t>梳理工作流程　·　回顾关键方法　·　现场答疑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40A12D-7B2F-4B11-AE63-984D0BC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32362"/>
            <a:ext cx="605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C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ECBFF"/>
                </a:solidFill>
                <a:latin typeface="Microsoft YaHei"/>
                <a:ea typeface="Microsoft YaHei"/>
                <a:cs typeface="Microsoft YaHei"/>
              </a:rPr>
              <a:t>本章目标：理解各步骤的作用，明确适合自己的使用场景。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07F07A7-0E21-4692-BCA4-8E669556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1188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建议 0.25 分钟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0673B40-C4A6-4F69-8EA8-B7D0BDC8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4CDE7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4954268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6c8863754482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0D1B4E-CB5F-4257-9F01-C7A851FC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案例示范 / 06 总结与交流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2BBC462-12CD-42D3-A334-2806BF9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8350AE-CDF7-43EF-A85C-6BACC033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703611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总结：从任务说明到工作成果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F3040AF-F42D-42D8-A3DA-B3AE2B32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7609"/>
            <a:ext cx="560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回顾刚才的示范，理解电脑、手机与连续追问怎样配合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E0DD68-1449-4111-B566-4C02BEC5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8159"/>
            <a:ext cx="33770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01　一条可重复的工作路径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9DC180-FCCC-4D18-A4B5-D4C1856B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9625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电脑端读取资料并形成简报；手机端把简报改成复习清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386CD2B-7B50-4E6B-8215-C962F556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4437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单；拜访后根据记录生成行动项与邮件。每一步都有明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BBD2D6C-46C7-4BD7-BCB7-D7653D6E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9250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确输入和成果。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17DE367-EE67-44A3-A5E2-215E61FA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4587"/>
            <a:ext cx="204355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F70"/>
                </a:solidFill>
                <a:latin typeface="Microsoft YaHei"/>
                <a:ea typeface="Microsoft YaHei"/>
                <a:cs typeface="Microsoft YaHei"/>
              </a:rPr>
              <a:t>02　交流与答疑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5C86D13-048F-40B3-A3A0-67494B31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052"/>
            <a:ext cx="582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围绕刚才展示的功能与案例，交流入口选择、提示词组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BF515A6-5FE0-4084-BDFD-10E55137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086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35C75"/>
                </a:solidFill>
                <a:latin typeface="Microsoft YaHei"/>
                <a:ea typeface="Microsoft YaHei"/>
                <a:cs typeface="Microsoft YaHei"/>
              </a:rPr>
              <a:t>织和结果调整等问题。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62AF1AB-04B0-414B-B68E-1A12CBBE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3909"/>
            <a:ext cx="2314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2CC"/>
                </a:solidFill>
                <a:latin typeface="Microsoft YaHei"/>
                <a:ea typeface="Microsoft YaHei"/>
                <a:cs typeface="Microsoft YaHei"/>
              </a:rPr>
              <a:t>从示范中带走的三个方法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696CEF8-9271-48BB-B0F5-D9CFC6ED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7309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先说清任务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7A3BAA9-4EB1-4E08-9C67-613F085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6409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交代工作目的、资料来源与输出形式。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DFCD07D-7D8F-4402-96C2-6303C84C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8511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用追问推进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1BFEEF0-B515-416B-97A9-9DA8383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7611"/>
            <a:ext cx="4229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从背景资料逐步形成话题、问题和简报。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582583C-F2DB-4F83-86EA-15CED96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9713"/>
            <a:ext cx="1304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F66"/>
                </a:solidFill>
                <a:latin typeface="Microsoft YaHei"/>
                <a:ea typeface="Microsoft YaHei"/>
                <a:cs typeface="Microsoft YaHei"/>
              </a:rPr>
              <a:t>按场景改写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03B20D7-32C6-43F0-94FA-21E2EAD1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38813"/>
            <a:ext cx="6057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5B75"/>
                </a:solidFill>
                <a:latin typeface="Microsoft YaHei"/>
                <a:ea typeface="Microsoft YaHei"/>
                <a:cs typeface="Microsoft YaHei"/>
              </a:rPr>
              <a:t>电脑准备长内容，手机查看短清单，会后形成行动与邮件。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FBBB81B3-558A-4187-BAE1-7A2B33A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4256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0CB"/>
                </a:solidFill>
                <a:latin typeface="Microsoft YaHei"/>
                <a:ea typeface="Microsoft YaHei"/>
                <a:cs typeface="Microsoft YaHei"/>
              </a:rPr>
              <a:t>这一页的结论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375E2F9-9D5D-47F3-92FC-87A6D68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7348538"/>
            <a:ext cx="727620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4777"/>
                </a:solidFill>
                <a:latin typeface="Microsoft YaHei"/>
                <a:ea typeface="Microsoft YaHei"/>
                <a:cs typeface="Microsoft YaHei"/>
              </a:rPr>
              <a:t>从“我想完成什么工作”出发，让 Copilot 帮你形成一份具体成果。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99731057-CD4E-4E3E-AE0F-DF3E2137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1188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建议 2.25 分钟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D82A5BF-0ADC-4C01-B9B8-F6D31E6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4398833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0eab470d94f9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854BEF-A402-444F-83FD-A2F8DAD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6AD6"/>
                </a:solidFill>
                <a:latin typeface="Microsoft YaHei"/>
                <a:ea typeface="Microsoft YaHei"/>
                <a:cs typeface="Microsoft YaHei"/>
              </a:rPr>
              <a:t>课后学习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F845EB0-7545-4DF5-876A-8DA3C49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846" y="585788"/>
            <a:ext cx="232365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298"/>
                </a:solidFill>
                <a:latin typeface="Microsoft YaHei"/>
                <a:ea typeface="Microsoft YaHei"/>
                <a:cs typeface="Microsoft YaHei"/>
              </a:rPr>
              <a:t>COPILOT / SERVICE SALES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17E2B1-2B55-4815-BA1B-C465C60A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826198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按工作需要，选择课程继续了解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D8576D6-91E7-4692-8D84-604EB4CB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5979"/>
            <a:ext cx="445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8B"/>
                </a:solidFill>
                <a:latin typeface="Microsoft YaHei"/>
                <a:ea typeface="Microsoft YaHei"/>
                <a:cs typeface="Microsoft YaHei"/>
              </a:rPr>
              <a:t>从基础操作到岗位应用，再到完整工作任务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9354EF4-57D4-4616-95B4-39C53FE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6604"/>
            <a:ext cx="51658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7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47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E623783-E3FA-4736-92DE-BC3676A5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09441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熟悉基础操作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8F19C4F-38B0-46FE-9AD1-4F02CC6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6166"/>
            <a:ext cx="2103834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6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618D"/>
                </a:solidFill>
                <a:latin typeface="Microsoft YaHei"/>
                <a:ea typeface="Microsoft YaHei"/>
                <a:cs typeface="Microsoft YaHei"/>
              </a:rPr>
              <a:t>AI Skills Navigator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6583783-5783-4509-A74B-50A86C53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2611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5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25C76"/>
                </a:solidFill>
                <a:latin typeface="Microsoft YaHei"/>
                <a:ea typeface="Microsoft YaHei"/>
                <a:cs typeface="Microsoft YaHei"/>
              </a:rPr>
              <a:t>了解聊天、提示词与资料处理，回顾今天介绍的基础操作。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557E981-18B1-4426-8A2C-D243374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26172"/>
            <a:ext cx="365730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76A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6ACA"/>
                </a:solidFill>
                <a:latin typeface="Microsoft YaHei"/>
                <a:ea typeface="Microsoft YaHei"/>
                <a:cs typeface="Microsoft YaHei"/>
              </a:rPr>
              <a:t>https://aiskillsnavigator.microsoft.com/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393F972-89BF-45DF-8CDB-B45469C2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9654"/>
            <a:ext cx="51658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7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47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44B728E-507A-43C4-A67A-9786A774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52491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学习岗位用法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80B7EF1-F3EC-42BA-A349-DCB6FEC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19216"/>
            <a:ext cx="3007519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6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618D"/>
                </a:solidFill>
                <a:latin typeface="Microsoft YaHei"/>
                <a:ea typeface="Microsoft YaHei"/>
                <a:cs typeface="Microsoft YaHei"/>
              </a:rPr>
              <a:t>Microsoft Learn · MS-4004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B0854728-0467-4FCB-BF0F-93B37B7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69160"/>
            <a:ext cx="8261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5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25C76"/>
                </a:solidFill>
                <a:latin typeface="Microsoft YaHei"/>
                <a:ea typeface="Microsoft YaHei"/>
                <a:cs typeface="Microsoft YaHei"/>
              </a:rPr>
              <a:t>选择销售或客户服务场景，学习怎样在 Microsoft 365 应用中完成日常工作。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062A6E3-76E3-47C2-9762-3BA9FEB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969222"/>
            <a:ext cx="562242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76A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6ACA"/>
                </a:solidFill>
                <a:latin typeface="Microsoft YaHei"/>
                <a:ea typeface="Microsoft YaHei"/>
                <a:cs typeface="Microsoft YaHei"/>
              </a:rPr>
              <a:t>https://learn.microsoft.com/zh-cn/training/courses/ms-4004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13393953-FE2E-4D52-8F8C-33E78411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2704"/>
            <a:ext cx="516582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47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47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B0F9142-210D-4C46-B708-2348A33E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995541"/>
            <a:ext cx="2247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C49"/>
                </a:solidFill>
                <a:latin typeface="Microsoft YaHei"/>
                <a:ea typeface="Microsoft YaHei"/>
                <a:cs typeface="Microsoft YaHei"/>
              </a:rPr>
              <a:t>完成一个工作任务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76DAC9D-08AA-4212-943B-243A4BA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462266"/>
            <a:ext cx="1324421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6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618D"/>
                </a:solidFill>
                <a:latin typeface="Microsoft YaHei"/>
                <a:ea typeface="Microsoft YaHei"/>
                <a:cs typeface="Microsoft YaHei"/>
              </a:rPr>
              <a:t>AI Tool Lab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8BC4CED-D038-47F9-AF6A-B9AA93F0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6012210"/>
            <a:ext cx="8448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5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25C76"/>
                </a:solidFill>
                <a:latin typeface="Microsoft YaHei"/>
                <a:ea typeface="Microsoft YaHei"/>
                <a:cs typeface="Microsoft YaHei"/>
              </a:rPr>
              <a:t>查看会议跟进、产品手册问答或笔记本的分步课程，了解完整任务的处理方法。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3CDF69AF-32E7-480B-A2F2-0EB1625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6512272"/>
            <a:ext cx="521449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76A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6ACA"/>
                </a:solidFill>
                <a:latin typeface="Microsoft YaHei"/>
                <a:ea typeface="Microsoft YaHei"/>
                <a:cs typeface="Microsoft YaHei"/>
              </a:rPr>
              <a:t>https://philips-ai-tool-lab.github.io/ai-tool-lab-preview/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038BD2F-EE31-4695-8206-FD59715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课后参考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4F198D1-B00C-41E2-8DAB-81F63227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338" y="8124825"/>
            <a:ext cx="62716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FA1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731291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2026-10-12T06:14:02.0660000Z</dcterms:created>
  <dcterms:modified xsi:type="dcterms:W3CDTF">2026-10-12T06:14:02.0660000Z</dcterms:modified>
</coreProperties>
</file>